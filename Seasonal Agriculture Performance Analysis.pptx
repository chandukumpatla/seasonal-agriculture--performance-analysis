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idx="1" type="body"/>
          </p:nvPr>
        </p:nvSpPr>
        <p:spPr>
          <a:xfrm>
            <a:off x="6312871" y="4141999"/>
            <a:ext cx="42207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1" name="Google Shape;31;p2"/>
          <p:cNvSpPr/>
          <p:nvPr/>
        </p:nvSpPr>
        <p:spPr>
          <a:xfrm>
            <a:off x="740309" y="1382809"/>
            <a:ext cx="1229700" cy="10599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755031" y="1194620"/>
            <a:ext cx="1666200" cy="14364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804994" y="5233183"/>
            <a:ext cx="718200" cy="6192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837838" y="1101306"/>
            <a:ext cx="651600" cy="5616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2"/>
          <p:cNvSpPr/>
          <p:nvPr>
            <p:ph idx="2" type="pic"/>
          </p:nvPr>
        </p:nvSpPr>
        <p:spPr>
          <a:xfrm>
            <a:off x="1571515" y="1914044"/>
            <a:ext cx="3993600" cy="36177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6312871" y="2050552"/>
            <a:ext cx="4998600" cy="17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92791" y="1699889"/>
            <a:ext cx="319800" cy="31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354457" y="5897738"/>
            <a:ext cx="180000" cy="18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3"/>
          <p:cNvSpPr/>
          <p:nvPr>
            <p:ph idx="2" type="pic"/>
          </p:nvPr>
        </p:nvSpPr>
        <p:spPr>
          <a:xfrm>
            <a:off x="7090227" y="786181"/>
            <a:ext cx="4441500" cy="539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7362825" y="443263"/>
            <a:ext cx="362100" cy="362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07246" y="5605994"/>
            <a:ext cx="654300" cy="65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683791" y="6132439"/>
            <a:ext cx="251100" cy="25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5733416" y="624239"/>
            <a:ext cx="5855700" cy="56316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4"/>
          <p:cNvSpPr txBox="1"/>
          <p:nvPr>
            <p:ph idx="1" type="body"/>
          </p:nvPr>
        </p:nvSpPr>
        <p:spPr>
          <a:xfrm>
            <a:off x="660400" y="2044700"/>
            <a:ext cx="4275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660400" y="805213"/>
            <a:ext cx="427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>
            <p:ph idx="2" type="pic"/>
          </p:nvPr>
        </p:nvSpPr>
        <p:spPr>
          <a:xfrm>
            <a:off x="5353508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5"/>
          <p:cNvSpPr/>
          <p:nvPr>
            <p:ph idx="3" type="pic"/>
          </p:nvPr>
        </p:nvSpPr>
        <p:spPr>
          <a:xfrm>
            <a:off x="3115921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4" type="pic"/>
          </p:nvPr>
        </p:nvSpPr>
        <p:spPr>
          <a:xfrm>
            <a:off x="7602465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/>
          <p:nvPr>
            <p:ph idx="5" type="pic"/>
          </p:nvPr>
        </p:nvSpPr>
        <p:spPr>
          <a:xfrm>
            <a:off x="9840051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"/>
          <p:cNvSpPr txBox="1"/>
          <p:nvPr>
            <p:ph type="title"/>
          </p:nvPr>
        </p:nvSpPr>
        <p:spPr>
          <a:xfrm>
            <a:off x="432000" y="647700"/>
            <a:ext cx="1134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546669" y="3467555"/>
            <a:ext cx="458400" cy="3951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113337" y="2394722"/>
            <a:ext cx="358500" cy="309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882649" y="2202202"/>
            <a:ext cx="230700" cy="1989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5"/>
          <p:cNvSpPr txBox="1"/>
          <p:nvPr>
            <p:ph idx="1" type="body"/>
          </p:nvPr>
        </p:nvSpPr>
        <p:spPr>
          <a:xfrm>
            <a:off x="546668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6" type="body"/>
          </p:nvPr>
        </p:nvSpPr>
        <p:spPr>
          <a:xfrm>
            <a:off x="556692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7" type="body"/>
          </p:nvPr>
        </p:nvSpPr>
        <p:spPr>
          <a:xfrm>
            <a:off x="2789482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8" type="body"/>
          </p:nvPr>
        </p:nvSpPr>
        <p:spPr>
          <a:xfrm>
            <a:off x="2789483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9" type="body"/>
          </p:nvPr>
        </p:nvSpPr>
        <p:spPr>
          <a:xfrm>
            <a:off x="5032296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3" type="body"/>
          </p:nvPr>
        </p:nvSpPr>
        <p:spPr>
          <a:xfrm>
            <a:off x="5029201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4" type="body"/>
          </p:nvPr>
        </p:nvSpPr>
        <p:spPr>
          <a:xfrm>
            <a:off x="7275110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5" type="body"/>
          </p:nvPr>
        </p:nvSpPr>
        <p:spPr>
          <a:xfrm>
            <a:off x="7275111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6" type="body"/>
          </p:nvPr>
        </p:nvSpPr>
        <p:spPr>
          <a:xfrm>
            <a:off x="9517923" y="4172761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7" type="body"/>
          </p:nvPr>
        </p:nvSpPr>
        <p:spPr>
          <a:xfrm>
            <a:off x="9517923" y="4588259"/>
            <a:ext cx="2139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5"/>
          <p:cNvSpPr/>
          <p:nvPr>
            <p:ph idx="18" type="pic"/>
          </p:nvPr>
        </p:nvSpPr>
        <p:spPr>
          <a:xfrm>
            <a:off x="878337" y="2555551"/>
            <a:ext cx="1485000" cy="128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6"/>
          <p:cNvGrpSpPr/>
          <p:nvPr/>
        </p:nvGrpSpPr>
        <p:grpSpPr>
          <a:xfrm>
            <a:off x="0" y="-8467"/>
            <a:ext cx="12192133" cy="6866580"/>
            <a:chOff x="0" y="-8467"/>
            <a:chExt cx="12192133" cy="6866580"/>
          </a:xfrm>
        </p:grpSpPr>
        <p:sp>
          <p:nvSpPr>
            <p:cNvPr id="73" name="Google Shape;73;p6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4"/>
              </a:schemeClr>
            </a:solidFill>
            <a:ln>
              <a:noFill/>
            </a:ln>
          </p:spPr>
        </p:sp>
        <p:cxnSp>
          <p:nvCxnSpPr>
            <p:cNvPr id="74" name="Google Shape;74;p6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" name="Google Shape;76;p6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77" name="Google Shape;77;p6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8" name="Google Shape;78;p6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4"/>
              </a:srgbClr>
            </a:solidFill>
            <a:ln>
              <a:noFill/>
            </a:ln>
          </p:spPr>
        </p:sp>
        <p:sp>
          <p:nvSpPr>
            <p:cNvPr id="80" name="Google Shape;80;p6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4"/>
              </a:schemeClr>
            </a:solidFill>
            <a:ln>
              <a:noFill/>
            </a:ln>
          </p:spPr>
        </p:sp>
        <p:sp>
          <p:nvSpPr>
            <p:cNvPr id="81" name="Google Shape;81;p6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82" name="Google Shape;82;p6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6"/>
          <p:cNvSpPr txBox="1"/>
          <p:nvPr>
            <p:ph type="ctrTitle"/>
          </p:nvPr>
        </p:nvSpPr>
        <p:spPr>
          <a:xfrm>
            <a:off x="1507067" y="2404534"/>
            <a:ext cx="7767000" cy="16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subTitle"/>
          </p:nvPr>
        </p:nvSpPr>
        <p:spPr>
          <a:xfrm>
            <a:off x="1507067" y="4050833"/>
            <a:ext cx="77670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"/>
          <p:cNvSpPr txBox="1"/>
          <p:nvPr>
            <p:ph idx="1" type="body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1" name="Google Shape;91;p7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677335" y="2700867"/>
            <a:ext cx="8596800" cy="18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1" type="body"/>
          </p:nvPr>
        </p:nvSpPr>
        <p:spPr>
          <a:xfrm>
            <a:off x="677335" y="4527448"/>
            <a:ext cx="85968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677334" y="2160589"/>
            <a:ext cx="41841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5089970" y="2160589"/>
            <a:ext cx="41841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675745" y="2160983"/>
            <a:ext cx="41856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75745" y="2737245"/>
            <a:ext cx="41856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5088383" y="2160983"/>
            <a:ext cx="41856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2" name="Google Shape;112;p10"/>
          <p:cNvSpPr txBox="1"/>
          <p:nvPr>
            <p:ph idx="4" type="body"/>
          </p:nvPr>
        </p:nvSpPr>
        <p:spPr>
          <a:xfrm>
            <a:off x="5088384" y="2737245"/>
            <a:ext cx="41856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677334" y="1498604"/>
            <a:ext cx="38544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4760461" y="514924"/>
            <a:ext cx="4513500" cy="55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2" type="body"/>
          </p:nvPr>
        </p:nvSpPr>
        <p:spPr>
          <a:xfrm>
            <a:off x="677334" y="2777069"/>
            <a:ext cx="3854400" cy="25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9" name="Google Shape;129;p13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677334" y="4800600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/>
          <p:nvPr>
            <p:ph idx="2" type="pic"/>
          </p:nvPr>
        </p:nvSpPr>
        <p:spPr>
          <a:xfrm>
            <a:off x="677334" y="609600"/>
            <a:ext cx="8596800" cy="38457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77334" y="5367338"/>
            <a:ext cx="85968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677335" y="609600"/>
            <a:ext cx="8596800" cy="34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677335" y="4470400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931334" y="609600"/>
            <a:ext cx="80940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366139" y="3632200"/>
            <a:ext cx="72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677335" y="4470400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1870" y="790378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893011" y="288655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677335" y="1931988"/>
            <a:ext cx="8596800" cy="25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677335" y="4527448"/>
            <a:ext cx="85968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931334" y="609600"/>
            <a:ext cx="80940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677332" y="4013200"/>
            <a:ext cx="8596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body"/>
          </p:nvPr>
        </p:nvSpPr>
        <p:spPr>
          <a:xfrm>
            <a:off x="677335" y="4527448"/>
            <a:ext cx="85968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41870" y="790378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8893011" y="2886556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685799" y="609600"/>
            <a:ext cx="85881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677332" y="4013200"/>
            <a:ext cx="8596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2" type="body"/>
          </p:nvPr>
        </p:nvSpPr>
        <p:spPr>
          <a:xfrm>
            <a:off x="677335" y="4527448"/>
            <a:ext cx="85968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 rot="5400000">
            <a:off x="3035202" y="-197411"/>
            <a:ext cx="3880800" cy="8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 rot="5400000">
            <a:off x="5994316" y="2582999"/>
            <a:ext cx="52515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 rot="5400000">
            <a:off x="1581635" y="-294750"/>
            <a:ext cx="5251500" cy="7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190" name="Google Shape;190;p22"/>
          <p:cNvSpPr/>
          <p:nvPr/>
        </p:nvSpPr>
        <p:spPr>
          <a:xfrm>
            <a:off x="3718560" y="1181123"/>
            <a:ext cx="4755000" cy="4495800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4149139" y="4859469"/>
            <a:ext cx="3924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type="title"/>
          </p:nvPr>
        </p:nvSpPr>
        <p:spPr>
          <a:xfrm>
            <a:off x="4149139" y="1529685"/>
            <a:ext cx="3924900" cy="16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133" cy="6866580"/>
            <a:chOff x="0" y="-8467"/>
            <a:chExt cx="12192133" cy="6866580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617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0868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4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58000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4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58000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800" cy="28449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69804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8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660396" y="637890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9/4/2026</a:t>
            </a:r>
            <a:endParaRPr b="0" i="0" sz="11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445526" y="6378906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8805338" y="637890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3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095738" y="2840466"/>
            <a:ext cx="10000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b="1" lang="en-US"/>
              <a:t>Project Title - Seasonal Agriculture Performance Analysis</a:t>
            </a:r>
            <a:endParaRPr sz="4000"/>
          </a:p>
        </p:txBody>
      </p:sp>
      <p:sp>
        <p:nvSpPr>
          <p:cNvPr id="198" name="Google Shape;198;p23"/>
          <p:cNvSpPr txBox="1"/>
          <p:nvPr/>
        </p:nvSpPr>
        <p:spPr>
          <a:xfrm>
            <a:off x="6400800" y="2794001"/>
            <a:ext cx="33123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3"/>
          <p:cNvSpPr txBox="1"/>
          <p:nvPr/>
        </p:nvSpPr>
        <p:spPr>
          <a:xfrm>
            <a:off x="5448291" y="3583887"/>
            <a:ext cx="121920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NAME : Kumpatla Purna chandrama nayudu 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AICTE ID :STU6673b2dcf33ca1718858460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Swarnandhra college of engineering and technology </a:t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046480" y="1875556"/>
            <a:ext cx="6431400" cy="3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9999"/>
              <a:buChar char="▪"/>
            </a:pPr>
            <a:r>
              <a:rPr lang="en-US" sz="180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9999"/>
              <a:buChar char="▪"/>
            </a:pPr>
            <a:r>
              <a:rPr lang="en-US" sz="1800"/>
              <a:t>However, raw agricultural data does not clearly explain how agricultural performance changes across seasons or what patterns can be observed in different seasonal conditions.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9999"/>
              <a:buChar char="▪"/>
            </a:pPr>
            <a:r>
              <a:rPr lang="en-US" sz="1800"/>
              <a:t>The problem is to analyze the given agricultural dataset and investigate seasonal differences in agricultural performance by identifying meaningful patterns, trends, relationships and variations within the available data</a:t>
            </a:r>
            <a:endParaRPr b="0" sz="1800"/>
          </a:p>
        </p:txBody>
      </p:sp>
      <p:sp>
        <p:nvSpPr>
          <p:cNvPr id="206" name="Google Shape;206;p24"/>
          <p:cNvSpPr txBox="1"/>
          <p:nvPr>
            <p:ph type="title"/>
          </p:nvPr>
        </p:nvSpPr>
        <p:spPr>
          <a:xfrm>
            <a:off x="754602" y="550417"/>
            <a:ext cx="69957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ebuchet MS"/>
              <a:buNone/>
            </a:pPr>
            <a:r>
              <a:rPr b="1" lang="en-US" sz="2600"/>
              <a:t>PROBLEM STATEMENT</a:t>
            </a:r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684" y="2930834"/>
            <a:ext cx="2760756" cy="3264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660399" y="805213"/>
            <a:ext cx="6276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ebuchet MS"/>
              <a:buNone/>
            </a:pPr>
            <a:r>
              <a:rPr b="1" lang="en-US" sz="2600"/>
              <a:t>Project Description</a:t>
            </a:r>
            <a:endParaRPr/>
          </a:p>
        </p:txBody>
      </p:sp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675957" y="2068434"/>
            <a:ext cx="75465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This project analyzes 4,000 farm records across 28 variables to understand seasonal differences in yield, production, profitability, water use, environmental conditions, and farming practices.</a:t>
            </a:r>
            <a:b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The workflow covers data understanding, cleaning, statistical analysis, univariate and outlier analysis, bivariate and multivariate analysis, seasonal comparison, and additional farm-scale, irrigation, and pest-risk analysis.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>
            <p:ph type="title"/>
          </p:nvPr>
        </p:nvSpPr>
        <p:spPr>
          <a:xfrm>
            <a:off x="620008" y="876617"/>
            <a:ext cx="100461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ebuchet MS"/>
              <a:buNone/>
            </a:pPr>
            <a:r>
              <a:rPr b="1" lang="en-US" sz="2600"/>
              <a:t>WHO ARE THE END USERS?</a:t>
            </a:r>
            <a:endParaRPr sz="2000"/>
          </a:p>
        </p:txBody>
      </p:sp>
      <p:pic>
        <p:nvPicPr>
          <p:cNvPr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721359" y="2073897"/>
            <a:ext cx="9144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The notebook does not explicitly define end users. Based on the stated objectives, the analysis is intended to support:</a:t>
            </a:r>
            <a:b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• Agricultural decision-makers</a:t>
            </a:r>
            <a:b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• Farm and irrigation planners</a:t>
            </a:r>
            <a:b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• Agricultural analysts and researchers</a:t>
            </a:r>
            <a:b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• Stakeholders comparing seasonal and regional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7"/>
          <p:cNvSpPr txBox="1"/>
          <p:nvPr>
            <p:ph type="title"/>
          </p:nvPr>
        </p:nvSpPr>
        <p:spPr>
          <a:xfrm>
            <a:off x="660399" y="430567"/>
            <a:ext cx="53064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ebuchet MS"/>
              <a:buNone/>
            </a:pPr>
            <a:r>
              <a:rPr b="1" lang="en-US" sz="2600"/>
              <a:t>Technology Used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822960" y="1645920"/>
            <a:ext cx="896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— analysis and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Pandas — data loading, cleaning, grouping, and summaries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NumPy — numerical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Matplotlib — visualizations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Seaborn — statistical plots and heatmaps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>
            <p:ph type="title"/>
          </p:nvPr>
        </p:nvSpPr>
        <p:spPr>
          <a:xfrm>
            <a:off x="675957" y="370589"/>
            <a:ext cx="4216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grpSp>
        <p:nvGrpSpPr>
          <p:cNvPr id="239" name="Google Shape;239;p28"/>
          <p:cNvGrpSpPr/>
          <p:nvPr/>
        </p:nvGrpSpPr>
        <p:grpSpPr>
          <a:xfrm>
            <a:off x="582192" y="1484386"/>
            <a:ext cx="10025917" cy="2768400"/>
            <a:chOff x="186267" y="1616365"/>
            <a:chExt cx="10025917" cy="2768400"/>
          </a:xfrm>
        </p:grpSpPr>
        <p:pic>
          <p:nvPicPr>
            <p:cNvPr id="240" name="Google Shape;24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6267" y="1616365"/>
              <a:ext cx="3910527" cy="2767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83869" y="1616365"/>
              <a:ext cx="5628315" cy="276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" name="Google Shape;242;p28"/>
          <p:cNvSpPr txBox="1"/>
          <p:nvPr/>
        </p:nvSpPr>
        <p:spPr>
          <a:xfrm>
            <a:off x="675957" y="1006014"/>
            <a:ext cx="89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is the agricultural dataset distributed across different seasons and crops?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675957" y="4373900"/>
            <a:ext cx="81378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highest number of records, followed by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Rabi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Zaid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considerably fewer records than Kharif and Rabi.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Among crops,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highest number of records.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Wheat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Maize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also have a high number of records.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Sugarcane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lowest number of records among the crops shown.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>
            <p:ph type="title"/>
          </p:nvPr>
        </p:nvSpPr>
        <p:spPr>
          <a:xfrm>
            <a:off x="402578" y="361162"/>
            <a:ext cx="4254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b="1" lang="en-US" sz="2800"/>
              <a:t>RESULTS </a:t>
            </a:r>
            <a:endParaRPr sz="5400"/>
          </a:p>
        </p:txBody>
      </p:sp>
      <p:grpSp>
        <p:nvGrpSpPr>
          <p:cNvPr id="250" name="Google Shape;250;p29"/>
          <p:cNvGrpSpPr/>
          <p:nvPr/>
        </p:nvGrpSpPr>
        <p:grpSpPr>
          <a:xfrm>
            <a:off x="174943" y="1312759"/>
            <a:ext cx="11842112" cy="2863284"/>
            <a:chOff x="3" y="1699271"/>
            <a:chExt cx="11842112" cy="2411999"/>
          </a:xfrm>
        </p:grpSpPr>
        <p:pic>
          <p:nvPicPr>
            <p:cNvPr id="251" name="Google Shape;251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" y="1699271"/>
              <a:ext cx="3907039" cy="2411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67538" y="1699271"/>
              <a:ext cx="3907040" cy="2411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35075" y="1699271"/>
              <a:ext cx="3907040" cy="24119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" name="Google Shape;254;p29"/>
          <p:cNvSpPr txBox="1"/>
          <p:nvPr/>
        </p:nvSpPr>
        <p:spPr>
          <a:xfrm>
            <a:off x="384141" y="878420"/>
            <a:ext cx="93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the distribution of yield, farm profit, and rainfall in the agricultural dataset?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384141" y="4253203"/>
            <a:ext cx="114087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Yield: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Most observations are concentrated at lower yield values, with a long right tail showing some very high-yield observations.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Farm Profit: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Most farms have profit values around ₹0, while the distribution extends toward both losses and high profits.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Rainfall: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Rainfall values are spread across a wide range, with most observations roughly 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300–1,000 mm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1749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/>
          <p:nvPr>
            <p:ph type="title"/>
          </p:nvPr>
        </p:nvSpPr>
        <p:spPr>
          <a:xfrm>
            <a:off x="675957" y="31615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pic>
        <p:nvPicPr>
          <p:cNvPr id="262" name="Google Shape;2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57" y="1265947"/>
            <a:ext cx="7900840" cy="323246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/>
        </p:nvSpPr>
        <p:spPr>
          <a:xfrm>
            <a:off x="675957" y="777824"/>
            <a:ext cx="610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Are there potential outliers in yield and farm profit?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675957" y="4617204"/>
            <a:ext cx="83265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Yield: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The box plot shows many potential outliers, with several observations having much higher yields than the main distribution.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Farm Profit: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Profit also contains many potential outliers, including both unusually high profits and some large negative values.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These extreme values indicate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 variation in agricultural performance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should be considered during further analysis.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1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pic>
        <p:nvPicPr>
          <p:cNvPr id="271" name="Google Shape;27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57" y="1366599"/>
            <a:ext cx="9152166" cy="344988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1"/>
          <p:cNvSpPr txBox="1"/>
          <p:nvPr/>
        </p:nvSpPr>
        <p:spPr>
          <a:xfrm>
            <a:off x="675957" y="878420"/>
            <a:ext cx="827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does agricultural yield and profit vary across different seasons?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675957" y="4935328"/>
            <a:ext cx="94896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shows the highest overall yield and profit distribution.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Rabi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a moderate yield and profit compared with Kharif.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Zaid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generally shows the lowest yield and profit among the three seasons.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All seasons contain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potential outliers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with some farms showing unusually high yields and profits.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grpSp>
        <p:nvGrpSpPr>
          <p:cNvPr id="280" name="Google Shape;280;p32"/>
          <p:cNvGrpSpPr/>
          <p:nvPr/>
        </p:nvGrpSpPr>
        <p:grpSpPr>
          <a:xfrm>
            <a:off x="675963" y="1353940"/>
            <a:ext cx="9903743" cy="3152556"/>
            <a:chOff x="503132" y="1092729"/>
            <a:chExt cx="11310808" cy="3420000"/>
          </a:xfrm>
        </p:grpSpPr>
        <p:pic>
          <p:nvPicPr>
            <p:cNvPr id="281" name="Google Shape;28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3132" y="1092729"/>
              <a:ext cx="5539834" cy="342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74106" y="1092729"/>
              <a:ext cx="5539834" cy="342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3" name="Google Shape;283;p32"/>
          <p:cNvSpPr txBox="1"/>
          <p:nvPr/>
        </p:nvSpPr>
        <p:spPr>
          <a:xfrm>
            <a:off x="675957" y="859859"/>
            <a:ext cx="99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Is there a relationship between rainfall and yield, and between farm area and production?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641243" y="4537115"/>
            <a:ext cx="101754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Rainfall vs Yield: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The plot shows a positive relationship at higher yield levels—yield generally increases as rainfall rises, although there is considerable variation.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Farm Area vs Production: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There is a clear positive relationship;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larger farm areas generally produce higher total production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relationships are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perfectly linear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as the data contains substantial variation and some outliers.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pic>
        <p:nvPicPr>
          <p:cNvPr id="291" name="Google Shape;29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26" y="1262313"/>
            <a:ext cx="6474615" cy="3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3"/>
          <p:cNvSpPr txBox="1"/>
          <p:nvPr/>
        </p:nvSpPr>
        <p:spPr>
          <a:xfrm>
            <a:off x="675956" y="892981"/>
            <a:ext cx="78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does average yield vary across different irrigation methods?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403812" y="4900915"/>
            <a:ext cx="90993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Drip irrigation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highest average yield, at approximately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6.5 tonnes/ha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Sprinkler irrigation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second-highest average yield, at about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5.1 tonnes/ha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Flood irrigation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gives an average yield of around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4.8 tonnes/ha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Rainfed farming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lowest average yield, at approximately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4.6 tonnes/ha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4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pic>
        <p:nvPicPr>
          <p:cNvPr id="300" name="Google Shape;30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363" y="1155419"/>
            <a:ext cx="7183527" cy="355024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4"/>
          <p:cNvSpPr txBox="1"/>
          <p:nvPr/>
        </p:nvSpPr>
        <p:spPr>
          <a:xfrm>
            <a:off x="675957" y="786087"/>
            <a:ext cx="726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does average crop yield vary across different seasons?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675957" y="4705660"/>
            <a:ext cx="102660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Sugarcane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highest average yield in all three seasons.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Sugarcane performs best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(~53.5 tonnes/ha)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followed by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Rabi (~43 tonnes/ha)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Zaid (~38 tonnes/ha)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most other crops,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has the highest average yield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followed by Rabi and Zaid.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Pulses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have the lowest average yield among the crops shown.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5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5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sp>
        <p:nvSpPr>
          <p:cNvPr id="309" name="Google Shape;309;p35"/>
          <p:cNvSpPr txBox="1"/>
          <p:nvPr/>
        </p:nvSpPr>
        <p:spPr>
          <a:xfrm>
            <a:off x="675956" y="961349"/>
            <a:ext cx="78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does yield vary across different irrigation methods and seasons?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60" y="1330682"/>
            <a:ext cx="6791326" cy="334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5"/>
          <p:cNvSpPr txBox="1"/>
          <p:nvPr/>
        </p:nvSpPr>
        <p:spPr>
          <a:xfrm>
            <a:off x="763360" y="4814114"/>
            <a:ext cx="100026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Drip irrigation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shows the highest yield levels across the seasons.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Sprinkler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also shows relatively higher yields compared with Flood and Rainfed in several observations.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Flood and Rainfed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generally show lower yield distributions.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Yield varies considerably within each irrigation method, with several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high-yield outliers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6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6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grpSp>
        <p:nvGrpSpPr>
          <p:cNvPr id="318" name="Google Shape;318;p36"/>
          <p:cNvGrpSpPr/>
          <p:nvPr/>
        </p:nvGrpSpPr>
        <p:grpSpPr>
          <a:xfrm>
            <a:off x="861101" y="1468981"/>
            <a:ext cx="9132582" cy="3134965"/>
            <a:chOff x="1754463" y="849085"/>
            <a:chExt cx="10425322" cy="3549151"/>
          </a:xfrm>
        </p:grpSpPr>
        <p:pic>
          <p:nvPicPr>
            <p:cNvPr id="319" name="Google Shape;319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4463" y="849085"/>
              <a:ext cx="5979133" cy="3548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33596" y="849085"/>
              <a:ext cx="4446189" cy="35491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6"/>
          <p:cNvSpPr txBox="1"/>
          <p:nvPr/>
        </p:nvSpPr>
        <p:spPr>
          <a:xfrm>
            <a:off x="675958" y="800907"/>
            <a:ext cx="9186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relationships exist between yield, profit, farm size, and other agricultural variables across different seasons?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861015" y="4717594"/>
            <a:ext cx="73887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Yield and profit show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positive relationship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Yield and production have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positive correlation (0.88)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Profit and revenue have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positive correlation (0.89)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Larger farms generally have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higher production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Rainfall and soil moisture are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positively related (0.51)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7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7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pic>
        <p:nvPicPr>
          <p:cNvPr id="329" name="Google Shape;32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57" y="1391287"/>
            <a:ext cx="10597132" cy="345853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7"/>
          <p:cNvSpPr txBox="1"/>
          <p:nvPr/>
        </p:nvSpPr>
        <p:spPr>
          <a:xfrm>
            <a:off x="675957" y="837636"/>
            <a:ext cx="772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average yield, profit, and water efficiency vary across seasons?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7"/>
          <p:cNvSpPr txBox="1"/>
          <p:nvPr/>
        </p:nvSpPr>
        <p:spPr>
          <a:xfrm>
            <a:off x="675957" y="4953181"/>
            <a:ext cx="80871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highest average yield and profit.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Rabi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shows moderate yield and profit.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Zaid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lowest yield and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negative average profit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also has the highest water efficiency, followed by Rabi and Zaid.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8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sp>
        <p:nvSpPr>
          <p:cNvPr id="338" name="Google Shape;338;p38"/>
          <p:cNvSpPr txBox="1"/>
          <p:nvPr/>
        </p:nvSpPr>
        <p:spPr>
          <a:xfrm>
            <a:off x="675957" y="878420"/>
            <a:ext cx="8674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farm size and season affect average profit and the percentage of farms operating at a net loss?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57" y="1623838"/>
            <a:ext cx="9152166" cy="279649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8"/>
          <p:cNvSpPr txBox="1"/>
          <p:nvPr/>
        </p:nvSpPr>
        <p:spPr>
          <a:xfrm>
            <a:off x="675957" y="4519420"/>
            <a:ext cx="84012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highest average profit across all farm sizes.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Zaid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negative average profit across all farm sizes.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Larger farms generally have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higher profits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Zaid has the highest loss rate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reaching about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64% for medium farms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Loss rates remain significant across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all farm sizes and seasons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9"/>
          <p:cNvSpPr txBox="1"/>
          <p:nvPr>
            <p:ph type="title"/>
          </p:nvPr>
        </p:nvSpPr>
        <p:spPr>
          <a:xfrm>
            <a:off x="675957" y="3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sp>
        <p:nvSpPr>
          <p:cNvPr id="347" name="Google Shape;347;p39"/>
          <p:cNvSpPr txBox="1"/>
          <p:nvPr/>
        </p:nvSpPr>
        <p:spPr>
          <a:xfrm>
            <a:off x="675956" y="878420"/>
            <a:ext cx="95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irrigation methods affect water efficiency and average net profit across seasons?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271" y="1313068"/>
            <a:ext cx="9152166" cy="279649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9"/>
          <p:cNvSpPr txBox="1"/>
          <p:nvPr/>
        </p:nvSpPr>
        <p:spPr>
          <a:xfrm>
            <a:off x="786492" y="4185763"/>
            <a:ext cx="86406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Rainfed Kharif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highest water efficiency at about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8.8 t/1,000 m³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Flood irrigation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has the lowest water efficiency across all seasons.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Drip irrigation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gives the highest net profit in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and Rabi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Zaid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shows negative net profit for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Flood and Rainfed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irrigation.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Overall,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irrigation method and season both affect water efficiency and profitability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0"/>
          <p:cNvSpPr txBox="1"/>
          <p:nvPr>
            <p:ph type="title"/>
          </p:nvPr>
        </p:nvSpPr>
        <p:spPr>
          <a:xfrm>
            <a:off x="501786" y="370590"/>
            <a:ext cx="29817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en-US" sz="2400"/>
              <a:t>RESULTS </a:t>
            </a:r>
            <a:endParaRPr/>
          </a:p>
        </p:txBody>
      </p:sp>
      <p:pic>
        <p:nvPicPr>
          <p:cNvPr id="356" name="Google Shape;35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500" y="1301405"/>
            <a:ext cx="9152166" cy="279649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0"/>
          <p:cNvSpPr txBox="1"/>
          <p:nvPr/>
        </p:nvSpPr>
        <p:spPr>
          <a:xfrm>
            <a:off x="514349" y="828319"/>
            <a:ext cx="991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 are humidity and pesticide application related to disease and pest risk across seasons?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0"/>
          <p:cNvSpPr txBox="1"/>
          <p:nvPr/>
        </p:nvSpPr>
        <p:spPr>
          <a:xfrm>
            <a:off x="527271" y="4228257"/>
            <a:ext cx="100197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Higher humidity is generally associated with higher disease and pest risk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especially in Kharif.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Pest risk tends to decrease as pesticide application increases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as shown by the downward trend line.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generally shows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higher humidity and pest risk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than Rabi and Zaid.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relationship between pesticide use and pest risk is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perfectly linear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with considerable variation in the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4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1"/>
          <p:cNvSpPr txBox="1"/>
          <p:nvPr>
            <p:ph type="title"/>
          </p:nvPr>
        </p:nvSpPr>
        <p:spPr>
          <a:xfrm>
            <a:off x="675957" y="1467090"/>
            <a:ext cx="473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ebuchet MS"/>
              <a:buNone/>
            </a:pPr>
            <a:r>
              <a:rPr b="1" lang="en-US" sz="2600"/>
              <a:t>Future Scope</a:t>
            </a:r>
            <a:endParaRPr/>
          </a:p>
        </p:txBody>
      </p:sp>
      <p:sp>
        <p:nvSpPr>
          <p:cNvPr id="365" name="Google Shape;365;p41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6" name="Google Shape;366;p41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675957" y="2342324"/>
            <a:ext cx="8450100" cy="25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Interactive Dashboard: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Develop a dashboard to monitor seasonal yield, profit, irrigation, rainfall, and pest-risk trends.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ML-Based Prediction: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Build machine-learning models to predict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crop yield and farm profit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using season, crop, rainfall, irrigation, farm size, and other available factors.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Risk Prediction: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Develop a model to identify farms with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 disease/pest risk or potential financial loss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Decision Support: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Use the dashboard and ML predictions to support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crop selection, irrigation planning, and seasonal agricultural decisions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2"/>
          <p:cNvSpPr txBox="1"/>
          <p:nvPr>
            <p:ph type="title"/>
          </p:nvPr>
        </p:nvSpPr>
        <p:spPr>
          <a:xfrm>
            <a:off x="675957" y="370589"/>
            <a:ext cx="473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rebuchet MS"/>
              <a:buNone/>
            </a:pPr>
            <a:r>
              <a:rPr b="1" lang="en-US" sz="2600"/>
              <a:t>GitHub Link</a:t>
            </a:r>
            <a:endParaRPr/>
          </a:p>
        </p:txBody>
      </p:sp>
      <p:sp>
        <p:nvSpPr>
          <p:cNvPr id="374" name="Google Shape;374;p42"/>
          <p:cNvSpPr txBox="1"/>
          <p:nvPr/>
        </p:nvSpPr>
        <p:spPr>
          <a:xfrm>
            <a:off x="4345694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-6102" y="2724284"/>
            <a:ext cx="12192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6" name="Google Shape;376;p42"/>
          <p:cNvSpPr txBox="1"/>
          <p:nvPr/>
        </p:nvSpPr>
        <p:spPr>
          <a:xfrm flipH="1" rot="129">
            <a:off x="1138221" y="2454922"/>
            <a:ext cx="8010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link : https://github.com/chandukumpatla/Seasonal-Agriculture-Performance-Analysis</a:t>
            </a:r>
            <a:endParaRPr b="1" i="0" sz="18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4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3"/>
          <p:cNvSpPr txBox="1"/>
          <p:nvPr>
            <p:ph type="title"/>
          </p:nvPr>
        </p:nvSpPr>
        <p:spPr>
          <a:xfrm>
            <a:off x="675957" y="370589"/>
            <a:ext cx="83514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b="1" lang="en-US" sz="2400"/>
              <a:t>VOIS Course Completion Certificate</a:t>
            </a:r>
            <a:br>
              <a:rPr lang="en-US"/>
            </a:br>
            <a:r>
              <a:rPr b="1" lang="en-US" sz="2400"/>
              <a:t>Course name — Data Visualization</a:t>
            </a:r>
            <a:endParaRPr/>
          </a:p>
        </p:txBody>
      </p:sp>
      <p:sp>
        <p:nvSpPr>
          <p:cNvPr id="383" name="Google Shape;383;p43"/>
          <p:cNvSpPr txBox="1"/>
          <p:nvPr/>
        </p:nvSpPr>
        <p:spPr>
          <a:xfrm>
            <a:off x="320982" y="12753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84" name="Google Shape;38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50" y="1655087"/>
            <a:ext cx="7630400" cy="441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/>
        </p:nvSpPr>
        <p:spPr>
          <a:xfrm>
            <a:off x="878337" y="4134780"/>
            <a:ext cx="2596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0" name="Google Shape;390;p44"/>
          <p:cNvSpPr txBox="1"/>
          <p:nvPr/>
        </p:nvSpPr>
        <p:spPr>
          <a:xfrm>
            <a:off x="5353508" y="3962573"/>
            <a:ext cx="2596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1" name="Google Shape;391;p44"/>
          <p:cNvSpPr txBox="1"/>
          <p:nvPr/>
        </p:nvSpPr>
        <p:spPr>
          <a:xfrm>
            <a:off x="7789163" y="3962572"/>
            <a:ext cx="25965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2" name="Google Shape;392;p44"/>
          <p:cNvSpPr txBox="1"/>
          <p:nvPr/>
        </p:nvSpPr>
        <p:spPr>
          <a:xfrm>
            <a:off x="6096000" y="4641925"/>
            <a:ext cx="2139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3" name="Google Shape;393;p44"/>
          <p:cNvSpPr txBox="1"/>
          <p:nvPr/>
        </p:nvSpPr>
        <p:spPr>
          <a:xfrm>
            <a:off x="8591363" y="4641925"/>
            <a:ext cx="2139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44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4"/>
          <p:cNvSpPr txBox="1"/>
          <p:nvPr>
            <p:ph type="title"/>
          </p:nvPr>
        </p:nvSpPr>
        <p:spPr>
          <a:xfrm>
            <a:off x="426000" y="3078943"/>
            <a:ext cx="11340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rebuchet MS"/>
              <a:buNone/>
            </a:pPr>
            <a:r>
              <a:rPr b="1" lang="en-US" sz="5400">
                <a:solidFill>
                  <a:schemeClr val="dk1"/>
                </a:solidFill>
              </a:rPr>
              <a:t>Thank you</a:t>
            </a:r>
            <a:endParaRPr/>
          </a:p>
        </p:txBody>
      </p:sp>
      <p:sp>
        <p:nvSpPr>
          <p:cNvPr id="396" name="Google Shape;396;p44"/>
          <p:cNvSpPr txBox="1"/>
          <p:nvPr/>
        </p:nvSpPr>
        <p:spPr>
          <a:xfrm>
            <a:off x="6102" y="2724284"/>
            <a:ext cx="12192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7" name="Google Shape;397;p44"/>
          <p:cNvSpPr txBox="1"/>
          <p:nvPr/>
        </p:nvSpPr>
        <p:spPr>
          <a:xfrm>
            <a:off x="5448290" y="5191009"/>
            <a:ext cx="12192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-kumpatla Purna chandrama nayudu </a:t>
            </a:r>
            <a:endParaRPr b="0" i="0" sz="1800" u="none" cap="none" strike="noStrike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